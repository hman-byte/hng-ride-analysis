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65A82"/>
                </a:solidFill>
                <a:latin typeface="Arial"/>
              </a:rPr>
              <a:t>Annual Revenue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241151.12</c:v>
                </c:pt>
                <c:pt idx="1">
                  <c:v>414755.39</c:v>
                </c:pt>
                <c:pt idx="2">
                  <c:v>401614.35</c:v>
                </c:pt>
                <c:pt idx="3">
                  <c:v>398738.81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65A82"/>
                </a:solidFill>
                <a:latin typeface="Arial"/>
              </a:rPr>
              <a:t>Quarterly Revenue 2022–2024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2022 Q1</c:v>
                  </c:pt>
                  <c:pt idx="1">
                    <c:v>2022 Q2</c:v>
                  </c:pt>
                  <c:pt idx="2">
                    <c:v>2022 Q3</c:v>
                  </c:pt>
                  <c:pt idx="3">
                    <c:v>2022 Q4</c:v>
                  </c:pt>
                  <c:pt idx="4">
                    <c:v>2023 Q1</c:v>
                  </c:pt>
                  <c:pt idx="5">
                    <c:v>2023 Q2</c:v>
                  </c:pt>
                  <c:pt idx="6">
                    <c:v>2023 Q3</c:v>
                  </c:pt>
                  <c:pt idx="7">
                    <c:v>2023 Q4</c:v>
                  </c:pt>
                  <c:pt idx="8">
                    <c:v>2024 Q1</c:v>
                  </c:pt>
                  <c:pt idx="9">
                    <c:v>2024 Q2</c:v>
                  </c:pt>
                  <c:pt idx="10">
                    <c:v>2024 Q3</c:v>
                  </c:pt>
                  <c:pt idx="11">
                    <c:v>2024 Q4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102538</c:v>
                </c:pt>
                <c:pt idx="1">
                  <c:v>102168</c:v>
                </c:pt>
                <c:pt idx="2">
                  <c:v>106099</c:v>
                </c:pt>
                <c:pt idx="3">
                  <c:v>103950</c:v>
                </c:pt>
                <c:pt idx="4">
                  <c:v>100537</c:v>
                </c:pt>
                <c:pt idx="5">
                  <c:v>102741</c:v>
                </c:pt>
                <c:pt idx="6">
                  <c:v>100054</c:v>
                </c:pt>
                <c:pt idx="7">
                  <c:v>98280</c:v>
                </c:pt>
                <c:pt idx="8">
                  <c:v>95357</c:v>
                </c:pt>
                <c:pt idx="9">
                  <c:v>97723</c:v>
                </c:pt>
                <c:pt idx="10">
                  <c:v>103466</c:v>
                </c:pt>
                <c:pt idx="11">
                  <c:v>102193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65A82"/>
                </a:solidFill>
                <a:latin typeface="Arial"/>
              </a:rPr>
              <a:t>Cancellation Rate by City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Boston</c:v>
                  </c:pt>
                  <c:pt idx="1">
                    <c:v>Vancouver</c:v>
                  </c:pt>
                  <c:pt idx="2">
                    <c:v>Los Angeles</c:v>
                  </c:pt>
                  <c:pt idx="3">
                    <c:v>New York</c:v>
                  </c:pt>
                  <c:pt idx="4">
                    <c:v>Ottawa</c:v>
                  </c:pt>
                  <c:pt idx="5">
                    <c:v>Montreal</c:v>
                  </c:pt>
                  <c:pt idx="6">
                    <c:v>San Francisco</c:v>
                  </c:pt>
                  <c:pt idx="7">
                    <c:v>Toronto</c:v>
                  </c:pt>
                  <c:pt idx="8">
                    <c:v>Calgary</c:v>
                  </c:pt>
                  <c:pt idx="9">
                    <c:v>Chicago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0.195</c:v>
                </c:pt>
                <c:pt idx="1">
                  <c:v>0.1975</c:v>
                </c:pt>
                <c:pt idx="2">
                  <c:v>0.1986</c:v>
                </c:pt>
                <c:pt idx="3">
                  <c:v>0.199</c:v>
                </c:pt>
                <c:pt idx="4">
                  <c:v>0.2006</c:v>
                </c:pt>
                <c:pt idx="5">
                  <c:v>0.204</c:v>
                </c:pt>
                <c:pt idx="6">
                  <c:v>0.2047</c:v>
                </c:pt>
                <c:pt idx="7">
                  <c:v>0.2063</c:v>
                </c:pt>
                <c:pt idx="8">
                  <c:v>0.2096</c:v>
                </c:pt>
                <c:pt idx="9">
                  <c:v>0.21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HNG RIDE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Performance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2021 – December 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Business Questions  •  $1.46M Revenue  •  48,000+ Rides Analysed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Portfolio Project  |  SQLite  |  Python  |  Excel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  Clean &amp; validate ride-hailing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Analyse 8 key business questions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Measure rider retention (2021→2024)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Track quarterly revenue growth YoY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Identify city cancellation hotspots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Rank top drivers by city &amp; efficiency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Find bonus-eligible high performers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86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at a Glance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31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1E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898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3898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2021 – Dec 2024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93852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9568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9568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05456"/>
            <a:ext cx="3931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1E9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5237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5237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core tables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72384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906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0906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cities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639312"/>
            <a:ext cx="3931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1E9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6576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6576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$1,456,259.67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265176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77240"/>
            <a:ext cx="10972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41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30.0 km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 Ride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Calgary → Los Angeles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777240"/>
            <a:ext cx="265176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777240"/>
            <a:ext cx="10972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941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1,815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Riders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Active in 2024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777240"/>
            <a:ext cx="265176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777240"/>
            <a:ext cx="10972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941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$68,202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9224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YoY Growth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Q2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697480"/>
            <a:ext cx="265176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697480"/>
            <a:ext cx="10972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862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Cancel 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2697480"/>
            <a:ext cx="265176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697480"/>
            <a:ext cx="10972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862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6616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1.73x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566160" y="3840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Driver Efficiency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Rides/Active Month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2697480"/>
            <a:ext cx="265176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2697480"/>
            <a:ext cx="10972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862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9224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492240" y="3840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Bonus-Eligible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ANALYSIS (2021–2024)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22960"/>
            <a:ext cx="283464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80760" y="859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80760" y="1133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$1.46M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283464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80760" y="1819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Year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20939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943600" y="2743200"/>
            <a:ext cx="283464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80760" y="2779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2021→22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30540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+72%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943600" y="3703320"/>
            <a:ext cx="2834640" cy="685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80760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2022→24 Decline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80760" y="4014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-3.9%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Revenue has declined 3.9% since the 2022 peak — strategic intervention recommended.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QUERIES: TOP RIDES &amp; RIDER RETENTION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41148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· Top 10 Longest Rides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rc.ride_id, d.name AS driver_name,
  r.name AS rider_name, rc.pickup_city,
  rc.distance_km, p.method
</a:t>
            </a:r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rides_completed rc
</a:t>
            </a:r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drivers d ON rc.driver_id = d.driver_id
</a:t>
            </a:r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payments p ON rc.ride_id = p.ride_id
</a:t>
            </a:r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p.amount &gt; 0
</a:t>
            </a:r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rc.distance_km DESC
</a:t>
            </a:r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3611880"/>
            <a:ext cx="3977640" cy="54864"/>
          </a:xfrm>
          <a:prstGeom prst="rect">
            <a:avLst/>
          </a:prstGeom>
          <a:solidFill>
            <a:srgbClr val="E2EFF9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703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Result: Longest ride = 30.0 km (Calgary → Los Angeles, Driver_1774)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4206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Techniques: 4x LEFT JOIN, ORDER BY, LIMIT, WHERE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777240"/>
            <a:ext cx="41148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· Rider Retention: 2021 → 2024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18872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COUNT(DISTINCT rc.rider_id)
  AS riders_2021_active_in_2024
</a:t>
            </a:r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rides_completed rc
</a:t>
            </a:r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riders ri
  ON rc.rider_id = ri.rider_id
</a:t>
            </a:r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strftime('%Y', ri.signup_date)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'2021'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strftime('%Y', rc.pickup_time)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'2024';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611880"/>
            <a:ext cx="3977640" cy="868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6393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1,815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766560" y="365760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2021-cohort riders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active in 2024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4526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Techniques: COUNT DISTINCT, JOIN, strftime date filter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· YEAR-OVER-YEAR QUARTERLY REVENUE GROWTH</a:t>
            </a:r>
            <a:endParaRPr lang="en-US" sz="1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22960"/>
            <a:ext cx="2880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822960"/>
            <a:ext cx="9144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868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Quarter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2648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 Q2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126480" y="14904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+$68,202 YoY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1965960"/>
            <a:ext cx="2880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965960"/>
            <a:ext cx="9144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YoY Drop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2286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 Q1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126480" y="26334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-5.15% YoY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3108960"/>
            <a:ext cx="2880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3108960"/>
            <a:ext cx="9144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Stable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3429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 Q3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126480" y="37764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+0.06% YoY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3616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Techniques: Chained CTEs  •  Self-join on quarter/year  •  CASE WHEN for conditional growth rate  •  strftime date arithmetic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· CITY CANCELLATION RATES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822960"/>
            <a:ext cx="3017520" cy="11887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AB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Chicago Alert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12618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21.00% cancellation 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in 5 rides fails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06440" y="2194560"/>
            <a:ext cx="3017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2194560"/>
            <a:ext cx="30175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2194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97880" y="2606040"/>
            <a:ext cx="28346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Chicago's 21% rate significantly exceeds other cities. Recommended actions: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driver no-shows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demand-supply timing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reduce to &lt;15% in 2 quarters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· BONUS-ELIGIBLE DRIVERS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Criteria: ≥ 30 completed rides  •  ≥ 4.5 average rating  •  &lt; 5% cancellation rate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2062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137160" cy="3383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6128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Driver_1005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3840480" cy="60350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830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Rides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7830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432304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780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4780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4.80 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127248"/>
            <a:ext cx="3840480" cy="60350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7296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17296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3822192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6791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386791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$1,470.17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1143000"/>
            <a:ext cx="4206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1143000"/>
            <a:ext cx="42062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1143000"/>
            <a:ext cx="137160" cy="3383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16128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Driver_1181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166360" y="1737360"/>
            <a:ext cx="3840480" cy="60350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17830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Rides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17830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66360" y="2432304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4780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24780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4.60 ★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66360" y="3127248"/>
            <a:ext cx="3840480" cy="60350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17296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317296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66360" y="3822192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86791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386791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$1,373.96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these 2 drivers as the benchmark template for future driver onboarding &amp; quality standards.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02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822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Chicago Cancellations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21%, Chicago leads all cities. Investigate supply-demand gaps and driver no-shows. Target &lt;15% within 2 quarters.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77724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777240"/>
            <a:ext cx="502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822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Loyal 2021 Cohort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18872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1,815 retained riders are your most durable segment. Launch a dedicated loyalty tier with ride credits and priority matching.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502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560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240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2022 Q2 Growth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60604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+$68K YoY Q2 2022 spike (+200%) was the platform's best. Retroactively audit promotions and apply them again.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194560"/>
            <a:ext cx="502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560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240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Bonus Drivers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60604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drivers meet the quality bar. Use Driver_1005 &amp; Driver_1181 as the benchmark for onboarding standards.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502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3977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657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Revenue Decline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02336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down 3.9% from peak. Identify whether churn, lower frequency, or competition is the root cause — then act fast.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502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977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657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Cashless Adoption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02336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 frequent rider avoids cash entirely. Incentivise digital payments to reduce fraud and improve speed.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$1.46M Story in SQL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analysis transformed raw ride-hailing data into eight actionable business insights using advanced SQL — CTEs, window functions, self-joins, and date arithmetic — across 3.5 years and 12 cities.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23774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 Chains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3246120"/>
            <a:ext cx="23774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Functions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06440" y="3749040"/>
            <a:ext cx="23774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Self-Joins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23774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Anti-Joins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4251960"/>
            <a:ext cx="23774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4251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Parsing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4251960"/>
            <a:ext cx="23774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4251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SQL (SQLite)  •  Python  •  Excel  |  github.com/yourhandle/hng-ride-analysis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HNG Ride SQL Performance Analysis</dc:title>
  <dc:subject>PptxGenJS Presentation</dc:subject>
  <dc:creator>PptxGenJS</dc:creator>
  <cp:lastModifiedBy>PptxGenJS</cp:lastModifiedBy>
  <cp:revision>1</cp:revision>
  <dcterms:created xsi:type="dcterms:W3CDTF">2026-03-16T10:55:05Z</dcterms:created>
  <dcterms:modified xsi:type="dcterms:W3CDTF">2026-03-16T10:55:05Z</dcterms:modified>
</cp:coreProperties>
</file>