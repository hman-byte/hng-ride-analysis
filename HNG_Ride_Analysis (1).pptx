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65A82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065A82"/>
                </a:solidFill>
                <a:latin typeface="Arial"/>
              </a:rPr>
              <a:t>Annual Revenue ($)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Revenue ($)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229-461D-A4E1-76205AC23AD2}"/>
              </c:ext>
            </c:extLst>
          </c:dPt>
          <c:dPt>
            <c:idx val="1"/>
            <c:invertIfNegative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229-461D-A4E1-76205AC23AD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3229-461D-A4E1-76205AC23AD2}"/>
              </c:ext>
            </c:extLst>
          </c:dPt>
          <c:dPt>
            <c:idx val="3"/>
            <c:invertIfNegative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229-461D-A4E1-76205AC23AD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241151.12</c:v>
                </c:pt>
                <c:pt idx="1">
                  <c:v>414755.39</c:v>
                </c:pt>
                <c:pt idx="2">
                  <c:v>401614.35</c:v>
                </c:pt>
                <c:pt idx="3">
                  <c:v>398738.81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229-461D-A4E1-76205AC23AD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65A82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65A82"/>
                </a:solidFill>
                <a:latin typeface="Arial"/>
              </a:rPr>
              <a:t>Quarterly Revenue 2022–2024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2022 Q1</c:v>
                </c:pt>
                <c:pt idx="1">
                  <c:v>2022 Q2</c:v>
                </c:pt>
                <c:pt idx="2">
                  <c:v>2022 Q3</c:v>
                </c:pt>
                <c:pt idx="3">
                  <c:v>2022 Q4</c:v>
                </c:pt>
                <c:pt idx="4">
                  <c:v>2023 Q1</c:v>
                </c:pt>
                <c:pt idx="5">
                  <c:v>2023 Q2</c:v>
                </c:pt>
                <c:pt idx="6">
                  <c:v>2023 Q3</c:v>
                </c:pt>
                <c:pt idx="7">
                  <c:v>2023 Q4</c:v>
                </c:pt>
                <c:pt idx="8">
                  <c:v>2024 Q1</c:v>
                </c:pt>
                <c:pt idx="9">
                  <c:v>2024 Q2</c:v>
                </c:pt>
                <c:pt idx="10">
                  <c:v>2024 Q3</c:v>
                </c:pt>
                <c:pt idx="11">
                  <c:v>2024 Q4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102538</c:v>
                </c:pt>
                <c:pt idx="1">
                  <c:v>102168</c:v>
                </c:pt>
                <c:pt idx="2">
                  <c:v>106099</c:v>
                </c:pt>
                <c:pt idx="3">
                  <c:v>103950</c:v>
                </c:pt>
                <c:pt idx="4">
                  <c:v>100537</c:v>
                </c:pt>
                <c:pt idx="5">
                  <c:v>102741</c:v>
                </c:pt>
                <c:pt idx="6">
                  <c:v>100054</c:v>
                </c:pt>
                <c:pt idx="7">
                  <c:v>98280</c:v>
                </c:pt>
                <c:pt idx="8">
                  <c:v>95357</c:v>
                </c:pt>
                <c:pt idx="9">
                  <c:v>97723</c:v>
                </c:pt>
                <c:pt idx="10">
                  <c:v>103466</c:v>
                </c:pt>
                <c:pt idx="11">
                  <c:v>102193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17-458C-90F9-79FDD65E64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65A82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65A82"/>
                </a:solidFill>
                <a:latin typeface="Arial"/>
              </a:rPr>
              <a:t>Cancellation Rate by City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Cancellation Rate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Boston</c:v>
                </c:pt>
                <c:pt idx="1">
                  <c:v>Vancouver</c:v>
                </c:pt>
                <c:pt idx="2">
                  <c:v>Los Angeles</c:v>
                </c:pt>
                <c:pt idx="3">
                  <c:v>New York</c:v>
                </c:pt>
                <c:pt idx="4">
                  <c:v>Ottawa</c:v>
                </c:pt>
                <c:pt idx="5">
                  <c:v>Montreal</c:v>
                </c:pt>
                <c:pt idx="6">
                  <c:v>San Francisco</c:v>
                </c:pt>
                <c:pt idx="7">
                  <c:v>Toronto</c:v>
                </c:pt>
                <c:pt idx="8">
                  <c:v>Calgary</c:v>
                </c:pt>
                <c:pt idx="9">
                  <c:v>Chicago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0.19500000000000001</c:v>
                </c:pt>
                <c:pt idx="1">
                  <c:v>0.19750000000000001</c:v>
                </c:pt>
                <c:pt idx="2">
                  <c:v>0.1986</c:v>
                </c:pt>
                <c:pt idx="3">
                  <c:v>0.19900000000000001</c:v>
                </c:pt>
                <c:pt idx="4">
                  <c:v>0.2006</c:v>
                </c:pt>
                <c:pt idx="5">
                  <c:v>0.20399999999999999</c:v>
                </c:pt>
                <c:pt idx="6">
                  <c:v>0.20469999999999999</c:v>
                </c:pt>
                <c:pt idx="7">
                  <c:v>0.20630000000000001</c:v>
                </c:pt>
                <c:pt idx="8">
                  <c:v>0.20960000000000001</c:v>
                </c:pt>
                <c:pt idx="9">
                  <c:v>0.21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17-4FF8-8450-4A99392153E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4919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058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HNG RIDE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02920" y="2331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Performance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3017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2021 – December 2024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3520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C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Business Questions  •  $1.46M Revenue  •  48,000+ Rides Analysed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Portfolio Project  |  SQLite  |  Python  |  Excel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68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🧹  Clean &amp; validate ride-hailing data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Analyse 8 key business questions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Measure rider retention (2021→2024)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Track quarterly revenue growth YoY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 Identify city cancellation hotspots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Rank top drivers by city &amp; efficiency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Find bonus-eligible high performers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82296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868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at a Glance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931920" cy="475488"/>
          </a:xfrm>
          <a:prstGeom prst="rect">
            <a:avLst/>
          </a:prstGeom>
          <a:solidFill>
            <a:srgbClr val="EBF5FB"/>
          </a:solidFill>
          <a:ln w="12700">
            <a:solidFill>
              <a:srgbClr val="D1E9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38988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138988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2021 – Dec 2024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938528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95681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195681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05456"/>
            <a:ext cx="3931920" cy="475488"/>
          </a:xfrm>
          <a:prstGeom prst="rect">
            <a:avLst/>
          </a:prstGeom>
          <a:solidFill>
            <a:srgbClr val="EBF5FB"/>
          </a:solidFill>
          <a:ln w="12700">
            <a:solidFill>
              <a:srgbClr val="D1E9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52374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252374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core tables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3072384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09067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309067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cities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3639312"/>
            <a:ext cx="3931920" cy="475488"/>
          </a:xfrm>
          <a:prstGeom prst="rect">
            <a:avLst/>
          </a:prstGeom>
          <a:solidFill>
            <a:srgbClr val="EBF5FB"/>
          </a:solidFill>
          <a:ln w="12700">
            <a:solidFill>
              <a:srgbClr val="D1E9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6576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36576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$1,456,259.67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2651760" cy="1737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777240"/>
            <a:ext cx="109728" cy="1737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4183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30.0 km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Longest Ride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Calgary → Los Angeles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777240"/>
            <a:ext cx="2651760" cy="1737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777240"/>
            <a:ext cx="109728" cy="1737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94183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1325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1,815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566160" y="19202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Riders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Active in 2024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777240"/>
            <a:ext cx="2651760" cy="1737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777240"/>
            <a:ext cx="109728" cy="1737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94183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92240" y="1325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$68,202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92240" y="19202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YoY Growth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Q2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2697480"/>
            <a:ext cx="2651760" cy="1737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2697480"/>
            <a:ext cx="109728" cy="1737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8620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080" y="3246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21%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40080" y="3840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Cancel Rate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Chicago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37560" y="2697480"/>
            <a:ext cx="2651760" cy="1737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2697480"/>
            <a:ext cx="109728" cy="1737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28620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566160" y="3246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1.73x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3566160" y="3840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Driver Efficiency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Rides/Active Month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63640" y="2697480"/>
            <a:ext cx="2651760" cy="1737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2697480"/>
            <a:ext cx="109728" cy="1737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28620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492240" y="32461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6492240" y="3840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Bonus-Eligible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ANALYSIS (2021–2024)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777240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822960"/>
            <a:ext cx="283464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80760" y="8595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80760" y="113385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$1.46M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943600" y="1783080"/>
            <a:ext cx="283464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80760" y="18196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Year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80760" y="209397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2022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943600" y="2743200"/>
            <a:ext cx="283464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80760" y="27797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 2021→22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080760" y="305409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+72%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943600" y="3703320"/>
            <a:ext cx="2834640" cy="6858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080760" y="3739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2022→24 Decline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080760" y="40142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-3.9%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Revenue has declined 3.9% since the 2022 peak — strategic intervention recommended.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QUERIES: TOP RIDES &amp; RIDER RETENTION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411480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· Top 10 Longest Rides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rc.ride_id, d.name AS driver_name,
  r.name AS rider_name, rc.pickup_city,
  rc.distance_km, p.method
</a:t>
            </a:r>
            <a:r>
              <a:rPr lang="en-US" sz="10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rides_completed rc
</a:t>
            </a:r>
            <a:r>
              <a:rPr lang="en-US" sz="10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drivers d ON rc.driver_id = d.driver_id
</a:t>
            </a:r>
            <a:r>
              <a:rPr lang="en-US" sz="10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payments p ON rc.ride_id = p.ride_id
</a:t>
            </a:r>
            <a:r>
              <a:rPr lang="en-US" sz="10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p.amount &gt; 0
</a:t>
            </a:r>
            <a:r>
              <a:rPr lang="en-US" sz="10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rc.distance_km DESC
</a:t>
            </a:r>
            <a:r>
              <a:rPr lang="en-US" sz="10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3611880"/>
            <a:ext cx="3977640" cy="54864"/>
          </a:xfrm>
          <a:prstGeom prst="rect">
            <a:avLst/>
          </a:prstGeom>
          <a:solidFill>
            <a:srgbClr val="E2EFF9"/>
          </a:solidFill>
          <a:ln w="12700">
            <a:solidFill>
              <a:srgbClr val="E2EF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7033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Result: Longest ride = 30.0 km (Calgary → Los Angeles, Driver_1774)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42062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Techniques: 4x LEFT JOIN, ORDER BY, LIMIT, WHERE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77724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777240"/>
            <a:ext cx="411480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777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· Rider Retention: 2021 → 2024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18872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COUNT(DISTINCT rc.rider_id)
  AS riders_2021_active_in_2024
</a:t>
            </a:r>
            <a:r>
              <a:rPr lang="en-US" sz="10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rides_completed rc
</a:t>
            </a:r>
            <a:r>
              <a:rPr lang="en-US" sz="10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riders ri
  ON rc.rider_id = ri.rider_id
</a:t>
            </a:r>
            <a:r>
              <a:rPr lang="en-US" sz="10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strftime('%Y', ri.signup_date)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'2021'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strftime('%Y', rc.pickup_time)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'2024';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3611880"/>
            <a:ext cx="3977640" cy="8686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63931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1,815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766560" y="3657600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2021-cohort riders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active in 2024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4526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Techniques: COUNT DISTINCT, JOIN, strftime date filter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· YEAR-OVER-YEAR QUARTERLY REVENUE GROWTH</a:t>
            </a:r>
            <a:endParaRPr lang="en-US" sz="19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53949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822960"/>
            <a:ext cx="2880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0" y="822960"/>
            <a:ext cx="91440" cy="9601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26480" y="868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Quarter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126480" y="1143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2022 Q2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126480" y="149047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+$68,202 YoY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0" y="1965960"/>
            <a:ext cx="2880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1965960"/>
            <a:ext cx="91440" cy="9601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 YoY Drop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26480" y="2286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2024 Q1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126480" y="263347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-5.15% YoY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43600" y="3108960"/>
            <a:ext cx="2880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43600" y="3108960"/>
            <a:ext cx="91440" cy="9601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648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Stable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26480" y="3429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2022 Q3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126480" y="377647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+0.06% YoY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43616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Techniques: Chained CTEs  •  Self-join on quarter/year  •  CASE WHEN for conditional growth rate  •  strftime date arithmetic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 · CITY CANCELLATION RATES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31520"/>
          <a:ext cx="53035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822960"/>
            <a:ext cx="3017520" cy="11887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AB4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868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Chicago Alert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0" y="126187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21.00% cancellation rate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 in 5 rides fails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806440" y="2194560"/>
            <a:ext cx="30175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2194560"/>
            <a:ext cx="301752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97880" y="21945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897880" y="2606040"/>
            <a:ext cx="28346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Chicago's 21% rate significantly exceeds other cities. Recommended actions:
• Investigate driver no-shows
• Review demand-supply timing
• Target: reduce to &lt;15% in 2 quarters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 · BONUS-ELIGIBLE DRIVERS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Criteria: ≥ 30 completed rides  •  ≥ 4.5 average rating  •  &lt; 5% cancellation rate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206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4206240" cy="5029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137160" cy="3383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6128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Driver_1005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3840480" cy="603504"/>
          </a:xfrm>
          <a:prstGeom prst="rect">
            <a:avLst/>
          </a:prstGeom>
          <a:solidFill>
            <a:srgbClr val="EBF5FB"/>
          </a:solidFill>
          <a:ln w="12700">
            <a:solidFill>
              <a:srgbClr val="E2EF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8308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Rides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178308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2432304"/>
            <a:ext cx="3840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7802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Rating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247802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4.80 ★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360" y="3127248"/>
            <a:ext cx="3840480" cy="603504"/>
          </a:xfrm>
          <a:prstGeom prst="rect">
            <a:avLst/>
          </a:prstGeom>
          <a:solidFill>
            <a:srgbClr val="EBF5FB"/>
          </a:solidFill>
          <a:ln w="12700">
            <a:solidFill>
              <a:srgbClr val="E2EF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17296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Rate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317296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3.13%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4360" y="3822192"/>
            <a:ext cx="3840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86791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6080" y="386791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$1,470.17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37760" y="1143000"/>
            <a:ext cx="4206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1143000"/>
            <a:ext cx="4206240" cy="5029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1143000"/>
            <a:ext cx="137160" cy="3383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16128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Driver_1181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166360" y="1737360"/>
            <a:ext cx="3840480" cy="603504"/>
          </a:xfrm>
          <a:prstGeom prst="rect">
            <a:avLst/>
          </a:prstGeom>
          <a:solidFill>
            <a:srgbClr val="EBF5FB"/>
          </a:solidFill>
          <a:ln w="12700">
            <a:solidFill>
              <a:srgbClr val="E2EF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178308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Rides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0" y="178308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166360" y="2432304"/>
            <a:ext cx="3840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247802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Rating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98080" y="247802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4.60 ★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166360" y="3127248"/>
            <a:ext cx="3840480" cy="603504"/>
          </a:xfrm>
          <a:prstGeom prst="rect">
            <a:avLst/>
          </a:prstGeom>
          <a:solidFill>
            <a:srgbClr val="EBF5FB"/>
          </a:solidFill>
          <a:ln w="12700">
            <a:solidFill>
              <a:srgbClr val="E2EF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7800" y="317296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Rate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98080" y="317296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3.13%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166360" y="3822192"/>
            <a:ext cx="3840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57800" y="386791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498080" y="386791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$1,373.96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68172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these 2 drivers as the benchmark template for future driver onboarding &amp; quality standards.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1234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502920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11430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8229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Chicago Cancellations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188720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21%, Chicago leads all cities. Investigate supply-demand gaps and driver no-shows. Target &lt;15% within 2 quarters.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777240"/>
            <a:ext cx="4114800" cy="1234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777240"/>
            <a:ext cx="502920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1430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40680" y="8229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Loyal 2021 Cohort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40680" y="1188720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1,815 retained riders are your most durable segment. Launch a dedicated loyalty tier with ride credits and priority matching.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4114800" cy="1234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94560"/>
            <a:ext cx="502920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25603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22402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Replicate 2022 Q2 Growth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606040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+$68K YoY Q2 2022 spike (+200%) was the platform's best. Retroactively audit promotions and apply them again.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2194560"/>
            <a:ext cx="4114800" cy="1234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194560"/>
            <a:ext cx="502920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25603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40680" y="22402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the Bonus Drivers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2606040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2 drivers meet the quality bar. Use Driver_1005 &amp; Driver_1181 as the benchmark for onboarding standards.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611880"/>
            <a:ext cx="4114800" cy="1234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11880"/>
            <a:ext cx="502920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" y="39776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68680" y="36576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Revenue Decline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4023360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is down 3.9% from peak. Identify whether churn, lower frequency, or competition is the root cause — then act fast.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3611880"/>
            <a:ext cx="4114800" cy="1234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611880"/>
            <a:ext cx="502920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39776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40680" y="36576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Cashless Adoption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4023360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1 frequent rider avoids cash entirely. Incentivise digital payments to reduce fraud and improve speed.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0"/>
            <a:ext cx="18288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9529" y="783395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9529" y="1619543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$1.46M Story in SQL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29529" y="2815297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analysis transformed raw ride-hailing data into eight actionable business insights using advanced SQL — CTEs, window functions, self-joins, and date arithmetic — across 3.5 years and 12 cities.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246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54680" y="3246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54680" y="42519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06440" y="42519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17669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i="1" dirty="0">
                <a:solidFill>
                  <a:srgbClr val="8CA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SQL (SQLite)  •  Python  •  Excel  |  https://github.com/Hman-byte/hng-ride-analysis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862</Words>
  <Application>Microsoft Office PowerPoint</Application>
  <PresentationFormat>On-screen Show (16:9)</PresentationFormat>
  <Paragraphs>148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HNG Ride SQL Performance Analysis</dc:title>
  <dc:subject>PptxGenJS Presentation</dc:subject>
  <dc:creator>PptxGenJS</dc:creator>
  <cp:lastModifiedBy>Hassan Hamzat</cp:lastModifiedBy>
  <cp:revision>2</cp:revision>
  <dcterms:created xsi:type="dcterms:W3CDTF">2026-03-16T10:55:05Z</dcterms:created>
  <dcterms:modified xsi:type="dcterms:W3CDTF">2026-03-16T11:31:51Z</dcterms:modified>
</cp:coreProperties>
</file>